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image" Target="../media/image-4-2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1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2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2.png"/><Relationship Id="rId4" Type="http://schemas.openxmlformats.org/officeDocument/2006/relationships/image" Target="../media/image-15-2.png"/><Relationship Id="rId5" Type="http://schemas.openxmlformats.org/officeDocument/2006/relationships/image" Target="../media/image-15-2.png"/><Relationship Id="rId6" Type="http://schemas.openxmlformats.org/officeDocument/2006/relationships/image" Target="../media/image-15-2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pic>
        <p:nvPicPr>
          <p:cNvPr id="4" name="Image 0" descr="icons/money_02C39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PROJECT · LLM SYSTEMS &amp; APPLIED GENAI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20116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FinSight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822960" y="3200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Personal Finance Advisor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your bank statement — grounded, tool-calling LLM agent over structured transaction data.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4617720"/>
            <a:ext cx="21945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800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for Viva Voce Evaluation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5166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  ·  FastAPI  ·  Streamlit  ·  SQLite  ·  Gemini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" y="5806440"/>
            <a:ext cx="2194560" cy="0"/>
          </a:xfrm>
          <a:prstGeom prst="line">
            <a:avLst/>
          </a:prstGeom>
          <a:noFill/>
          <a:ln w="12700">
            <a:solidFill>
              <a:srgbClr val="2C4A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Yashasvi Singh</a:t>
            </a:r>
            <a:pPr indent="0" marL="0">
              <a:buNone/>
            </a:pPr>
            <a:r>
              <a:rPr lang="en-US" sz="1300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Reg. No. 12319052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Walk Through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7830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  </a:t>
            </a:r>
            <a:pPr indent="0" marL="0">
              <a:buNone/>
            </a:pPr>
            <a:r>
              <a:rPr lang="en-US" sz="11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chat-based finance beats dashboards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2402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&amp; Features  </a:t>
            </a:r>
            <a:pPr indent="0" marL="0">
              <a:buNone/>
            </a:pPr>
            <a:r>
              <a:rPr lang="en-US" sz="11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FinSight actually does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6974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 </a:t>
            </a:r>
            <a:pPr indent="0" marL="0">
              <a:buNone/>
            </a:pPr>
            <a:r>
              <a:rPr lang="en-US" sz="11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connect end-to-end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31546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1546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 </a:t>
            </a:r>
            <a:pPr indent="0" marL="0">
              <a:buNone/>
            </a:pPr>
            <a:r>
              <a:rPr lang="en-US" sz="11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parsing &amp; the transaction model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36118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6118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Tools  </a:t>
            </a:r>
            <a:pPr indent="0" marL="0">
              <a:buNone/>
            </a:pPr>
            <a:r>
              <a:rPr lang="en-US" sz="11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Python behind every answer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09360" y="17830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12280" y="17830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Design  </a:t>
            </a:r>
            <a:pPr indent="0" marL="0">
              <a:buNone/>
            </a:pPr>
            <a:r>
              <a:rPr lang="en-US" sz="11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LangGraph, prompting, and routing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09360" y="22402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12280" y="22402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  </a:t>
            </a:r>
            <a:pPr indent="0" marL="0">
              <a:buNone/>
            </a:pPr>
            <a:r>
              <a:rPr lang="en-US" sz="11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vs RAG, Z-score vs alternatives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09360" y="26974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12280" y="26974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Deployment  </a:t>
            </a:r>
            <a:pPr indent="0" marL="0">
              <a:buNone/>
            </a:pPr>
            <a:r>
              <a:rPr lang="en-US" sz="11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Pytest, Docker, Render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09360" y="31546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12280" y="31546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Roadmap  </a:t>
            </a:r>
            <a:pPr indent="0" marL="0">
              <a:buNone/>
            </a:pPr>
            <a:r>
              <a:rPr lang="en-US" sz="11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next, honestly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309360" y="36118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12280" y="36118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Prep  </a:t>
            </a:r>
            <a:pPr indent="0" marL="0">
              <a:buNone/>
            </a:pPr>
            <a:r>
              <a:rPr lang="en-US" sz="11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questions, answered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 Show Numbers.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Don't Answer Questions.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personal finance apps stop at a bar chart. Seeing ₹18,000 spent on food still leaves the real work to the user — is that a lot? More than usual? What drove it? What should change?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questio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335127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320040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answers, only charts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350215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must interpret raw visuals themselves.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icons/bu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" y="412851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39776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hallucinate numbers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463040" y="42793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GPT-4o over financial text invents figures.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icons/filte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4905756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47548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bank CSVs are messy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463040" y="505663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Six+ column formats, mixed date styles, no standard.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498080" y="1737360"/>
            <a:ext cx="3931920" cy="4206240"/>
          </a:xfrm>
          <a:prstGeom prst="roundRect">
            <a:avLst>
              <a:gd name="adj" fmla="val 2791"/>
            </a:avLst>
          </a:prstGeom>
          <a:solidFill>
            <a:srgbClr val="0B2545"/>
          </a:solidFill>
          <a:ln/>
        </p:spPr>
      </p:sp>
      <p:pic>
        <p:nvPicPr>
          <p:cNvPr id="18" name="Image 3" descr="icons/question_02C39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01168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818120" y="26517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“Why did I overspend</a:t>
            </a:r>
            <a:endParaRPr lang="en-US" sz="1900" dirty="0"/>
          </a:p>
          <a:p>
            <a:pPr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June?”</a:t>
            </a:r>
            <a:endParaRPr lang="en-US" sz="1900" dirty="0"/>
          </a:p>
        </p:txBody>
      </p:sp>
      <p:sp>
        <p:nvSpPr>
          <p:cNvPr id="20" name="Shape 14"/>
          <p:cNvSpPr/>
          <p:nvPr/>
        </p:nvSpPr>
        <p:spPr>
          <a:xfrm>
            <a:off x="7818120" y="3703320"/>
            <a:ext cx="3291840" cy="0"/>
          </a:xfrm>
          <a:prstGeom prst="line">
            <a:avLst/>
          </a:prstGeom>
          <a:noFill/>
          <a:ln w="12700">
            <a:solidFill>
              <a:srgbClr val="2C4A6E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818120" y="388620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gap FinSight closes — a real, grounded, data-backed answer instead of a generic tip.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FinSight, In One Sentence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60020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LLM agent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lets a user upload a bank statement CSV and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 plain English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number in every answer comes from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Python tools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never from the LLM's imagination.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306324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40180" y="33375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icons/uploa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6484" y="348386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4114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86968" y="448056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bank statement</a:t>
            </a:r>
            <a:endParaRPr lang="en-US" sz="1050" dirty="0"/>
          </a:p>
        </p:txBody>
      </p:sp>
      <p:pic>
        <p:nvPicPr>
          <p:cNvPr id="11" name="Image 1" descr="icons/arrowRight_028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624" y="3977640"/>
            <a:ext cx="237744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306324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570732" y="33375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icons/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3483864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99232" y="4114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Store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3017520" y="448056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parser → SQLite</a:t>
            </a:r>
            <a:endParaRPr lang="en-US" sz="1050" dirty="0"/>
          </a:p>
        </p:txBody>
      </p:sp>
      <p:pic>
        <p:nvPicPr>
          <p:cNvPr id="17" name="Image 3" descr="icons/arrowRight_02809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176" y="3977640"/>
            <a:ext cx="237744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038344" y="306324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701284" y="33375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4" descr="icons/cha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7588" y="3483864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29784" y="4114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5148072" y="448056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question</a:t>
            </a:r>
            <a:endParaRPr lang="en-US" sz="1050" dirty="0"/>
          </a:p>
        </p:txBody>
      </p:sp>
      <p:pic>
        <p:nvPicPr>
          <p:cNvPr id="23" name="Image 5" descr="icons/arrowRight_02809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728" y="3977640"/>
            <a:ext cx="237744" cy="237744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7168896" y="306324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7831836" y="33375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6" descr="icons/robot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8140" y="3483864"/>
            <a:ext cx="347472" cy="34747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260336" y="4114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Reasons</a:t>
            </a:r>
            <a:endParaRPr lang="en-US" sz="1350" dirty="0"/>
          </a:p>
        </p:txBody>
      </p:sp>
      <p:sp>
        <p:nvSpPr>
          <p:cNvPr id="28" name="Text 19"/>
          <p:cNvSpPr/>
          <p:nvPr/>
        </p:nvSpPr>
        <p:spPr>
          <a:xfrm>
            <a:off x="7278624" y="448056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right tool</a:t>
            </a:r>
            <a:endParaRPr lang="en-US" sz="1050" dirty="0"/>
          </a:p>
        </p:txBody>
      </p:sp>
      <p:pic>
        <p:nvPicPr>
          <p:cNvPr id="29" name="Image 7" descr="icons/arrowRight_02809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8280" y="3977640"/>
            <a:ext cx="237744" cy="237744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9299448" y="306324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31" name="Shape 21"/>
          <p:cNvSpPr/>
          <p:nvPr/>
        </p:nvSpPr>
        <p:spPr>
          <a:xfrm>
            <a:off x="9962388" y="33375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2" name="Image 8" descr="icons/chart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08692" y="3483864"/>
            <a:ext cx="347472" cy="347472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9390888" y="4114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1350" dirty="0"/>
          </a:p>
        </p:txBody>
      </p:sp>
      <p:sp>
        <p:nvSpPr>
          <p:cNvPr id="34" name="Text 23"/>
          <p:cNvSpPr/>
          <p:nvPr/>
        </p:nvSpPr>
        <p:spPr>
          <a:xfrm>
            <a:off x="9409176" y="448056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back to chat</a:t>
            </a:r>
            <a:endParaRPr lang="en-US" sz="1050" dirty="0"/>
          </a:p>
        </p:txBody>
      </p:sp>
      <p:sp>
        <p:nvSpPr>
          <p:cNvPr id="35" name="Text 24"/>
          <p:cNvSpPr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6" name="Text 25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Core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11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char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" y="213512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6517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Analyser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29718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breakdown with % share, for any date range.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34840" y="178308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011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icons/compar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884" y="213512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6517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Compare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63440" y="29718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delta across any two months, per category.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92440" y="178308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2011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icons/anomaly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4484" y="213512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6517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Detector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21040" y="29718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analysis flags statistically unusual transactions.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77240" y="393192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5840" y="4160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icons/budge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" y="428396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5840" y="48006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Planner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005840" y="51206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saving plan derived from historical spend.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434840" y="393192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63440" y="4160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icons/csv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884" y="428396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63440" y="48006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CSV Parser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63440" y="51206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columns, splits debit/credit, infers categories.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92440" y="393192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21040" y="4160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icons/chat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4484" y="428396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21040" y="48006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Chat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21040" y="51206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Token-by-token responses with per-session conversation memory.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13315C"/>
          </a:solidFill>
          <a:ln w="15875">
            <a:solidFill>
              <a:srgbClr val="028090"/>
            </a:solidFill>
            <a:prstDash val="solid"/>
          </a:ln>
        </p:spPr>
      </p:sp>
      <p:pic>
        <p:nvPicPr>
          <p:cNvPr id="5" name="Image 0" descr="icons/chat_02C39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08483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606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1520" y="29077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8501</a:t>
            </a:r>
            <a:endParaRPr lang="en-US" sz="1000" dirty="0"/>
          </a:p>
        </p:txBody>
      </p:sp>
      <p:pic>
        <p:nvPicPr>
          <p:cNvPr id="8" name="Image 1" descr="icons/arrowRight_02C39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4688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71800" y="29718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+ SSE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3794760" y="141732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13315C"/>
          </a:solidFill>
          <a:ln w="19050">
            <a:solidFill>
              <a:srgbClr val="02C39A"/>
            </a:solidFill>
            <a:prstDash val="solid"/>
          </a:ln>
        </p:spPr>
      </p:sp>
      <p:pic>
        <p:nvPicPr>
          <p:cNvPr id="11" name="Image 2" descr="icons/server_02C39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60020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480560" y="16276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 ·  port 8000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023360" y="2148840"/>
            <a:ext cx="3749040" cy="566928"/>
          </a:xfrm>
          <a:prstGeom prst="roundRect">
            <a:avLst>
              <a:gd name="adj" fmla="val 9677"/>
            </a:avLst>
          </a:prstGeom>
          <a:solidFill>
            <a:srgbClr val="0B2545"/>
          </a:solidFill>
          <a:ln/>
        </p:spPr>
      </p:sp>
      <p:pic>
        <p:nvPicPr>
          <p:cNvPr id="14" name="Image 3" descr="icons/upload_02C39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228600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72000" y="21762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/upload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4572000" y="244144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loader → SQLite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4023360" y="2862072"/>
            <a:ext cx="3749040" cy="566928"/>
          </a:xfrm>
          <a:prstGeom prst="roundRect">
            <a:avLst>
              <a:gd name="adj" fmla="val 9677"/>
            </a:avLst>
          </a:prstGeom>
          <a:solidFill>
            <a:srgbClr val="0B2545"/>
          </a:solidFill>
          <a:ln/>
        </p:spPr>
      </p:sp>
      <p:pic>
        <p:nvPicPr>
          <p:cNvPr id="18" name="Image 4" descr="icons/chat_02C39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2999232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572000" y="28895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/chat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4572000" y="31546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AgentExecutor.astream()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4023360" y="3575304"/>
            <a:ext cx="3749040" cy="566928"/>
          </a:xfrm>
          <a:prstGeom prst="roundRect">
            <a:avLst>
              <a:gd name="adj" fmla="val 9677"/>
            </a:avLst>
          </a:prstGeom>
          <a:solidFill>
            <a:srgbClr val="0B2545"/>
          </a:solidFill>
          <a:ln/>
        </p:spPr>
      </p:sp>
      <p:pic>
        <p:nvPicPr>
          <p:cNvPr id="22" name="Image 5" descr="icons/check_02C39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520" y="3712464"/>
            <a:ext cx="292608" cy="29260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572000" y="36027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</a:t>
            </a:r>
            <a:endParaRPr lang="en-US" sz="1150" dirty="0"/>
          </a:p>
        </p:txBody>
      </p:sp>
      <p:sp>
        <p:nvSpPr>
          <p:cNvPr id="24" name="Text 16"/>
          <p:cNvSpPr/>
          <p:nvPr/>
        </p:nvSpPr>
        <p:spPr>
          <a:xfrm>
            <a:off x="4572000" y="386791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probe</a:t>
            </a:r>
            <a:endParaRPr lang="en-US" sz="950" dirty="0"/>
          </a:p>
        </p:txBody>
      </p:sp>
      <p:sp>
        <p:nvSpPr>
          <p:cNvPr id="25" name="Shape 17"/>
          <p:cNvSpPr/>
          <p:nvPr/>
        </p:nvSpPr>
        <p:spPr>
          <a:xfrm>
            <a:off x="4023360" y="4343400"/>
            <a:ext cx="3749040" cy="0"/>
          </a:xfrm>
          <a:prstGeom prst="line">
            <a:avLst/>
          </a:prstGeom>
          <a:noFill/>
          <a:ln w="12700">
            <a:solidFill>
              <a:srgbClr val="2C4A6E"/>
            </a:solidFill>
            <a:prstDash val="solid"/>
          </a:ln>
        </p:spPr>
      </p:sp>
      <p:pic>
        <p:nvPicPr>
          <p:cNvPr id="26" name="Image 6" descr="icons/robot_02C39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3360" y="4480560"/>
            <a:ext cx="320040" cy="32004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434840" y="44988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create_react_agent</a:t>
            </a:r>
            <a:endParaRPr lang="en-US" sz="1150" dirty="0"/>
          </a:p>
        </p:txBody>
      </p:sp>
      <p:sp>
        <p:nvSpPr>
          <p:cNvPr id="28" name="Text 19"/>
          <p:cNvSpPr/>
          <p:nvPr/>
        </p:nvSpPr>
        <p:spPr>
          <a:xfrm>
            <a:off x="4023360" y="482803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3.1 Flash-Lite  +  MemorySaver checkpoint  +  4 tools</a:t>
            </a:r>
            <a:endParaRPr lang="en-US" sz="950" dirty="0"/>
          </a:p>
        </p:txBody>
      </p:sp>
      <p:sp>
        <p:nvSpPr>
          <p:cNvPr id="29" name="Shape 20"/>
          <p:cNvSpPr/>
          <p:nvPr/>
        </p:nvSpPr>
        <p:spPr>
          <a:xfrm>
            <a:off x="4023360" y="516636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0B2545"/>
          </a:solidFill>
          <a:ln/>
        </p:spPr>
      </p:sp>
      <p:sp>
        <p:nvSpPr>
          <p:cNvPr id="30" name="Text 21"/>
          <p:cNvSpPr/>
          <p:nvPr/>
        </p:nvSpPr>
        <p:spPr>
          <a:xfrm>
            <a:off x="4114800" y="51663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SpendAnalyser · MoMCompare · AnomalyDetector · BudgetPlanner</a:t>
            </a:r>
            <a:endParaRPr lang="en-US" sz="950" dirty="0"/>
          </a:p>
        </p:txBody>
      </p:sp>
      <p:pic>
        <p:nvPicPr>
          <p:cNvPr id="31" name="Image 7" descr="icons/arrowRight_02C39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2468880"/>
            <a:ext cx="457200" cy="457200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8869680" y="192024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13315C"/>
          </a:solidFill>
          <a:ln w="15875">
            <a:solidFill>
              <a:srgbClr val="028090"/>
            </a:solidFill>
            <a:prstDash val="solid"/>
          </a:ln>
        </p:spPr>
      </p:sp>
      <p:pic>
        <p:nvPicPr>
          <p:cNvPr id="33" name="Image 8" descr="icons/database_02C39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21240" y="2084832"/>
            <a:ext cx="457200" cy="45720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8961120" y="2606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(Transaction)</a:t>
            </a:r>
            <a:endParaRPr lang="en-US" sz="1250" dirty="0"/>
          </a:p>
        </p:txBody>
      </p:sp>
      <p:sp>
        <p:nvSpPr>
          <p:cNvPr id="35" name="Text 24"/>
          <p:cNvSpPr/>
          <p:nvPr/>
        </p:nvSpPr>
        <p:spPr>
          <a:xfrm>
            <a:off x="8961120" y="29077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swap-in PostgreSQL ready</a:t>
            </a:r>
            <a:endParaRPr lang="en-US" sz="950" dirty="0"/>
          </a:p>
        </p:txBody>
      </p:sp>
      <p:sp>
        <p:nvSpPr>
          <p:cNvPr id="36" name="Shape 25"/>
          <p:cNvSpPr/>
          <p:nvPr/>
        </p:nvSpPr>
        <p:spPr>
          <a:xfrm>
            <a:off x="8869680" y="356616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13315C"/>
          </a:solidFill>
          <a:ln w="12700">
            <a:solidFill>
              <a:srgbClr val="2C4A6E"/>
            </a:solidFill>
            <a:prstDash val="solid"/>
          </a:ln>
        </p:spPr>
      </p:sp>
      <p:pic>
        <p:nvPicPr>
          <p:cNvPr id="37" name="Image 9" descr="icons/cloud_02C39A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21240" y="3712464"/>
            <a:ext cx="411480" cy="41148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8961120" y="4206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 deploy</a:t>
            </a:r>
            <a:endParaRPr lang="en-US" sz="1000" dirty="0"/>
          </a:p>
        </p:txBody>
      </p:sp>
      <p:sp>
        <p:nvSpPr>
          <p:cNvPr id="39" name="Text 27"/>
          <p:cNvSpPr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principle: the LLM only does intent recognition, tool routing &amp; synthesis. All arithmetic is plain, deterministic Python.</a:t>
            </a:r>
            <a:endParaRPr lang="en-US" sz="1150" dirty="0"/>
          </a:p>
        </p:txBody>
      </p:sp>
      <p:sp>
        <p:nvSpPr>
          <p:cNvPr id="40" name="Text 28"/>
          <p:cNvSpPr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1" name="Text 29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Actually Under the Hood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185623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icons/server_0B25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947672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29514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14400" y="25877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Python backend, streaming responses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474720" y="16916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39312" y="185623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icons/chat_0B254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1947672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29514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611880" y="25877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panel + chat frontend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172200" y="16916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36792" y="185623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icons/robot_0B254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1947672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29514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309360" y="25877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create_react_agent + MemorySaver checkpointer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8869680" y="16916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034272" y="185623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3" descr="icons/brain_0B254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5712" y="1947672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06840" y="229514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3.1 Flash-Lite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006840" y="25877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google-genai LLM, temperature 0.2, thinking off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777240" y="32918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41832" y="345643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6" name="Image 4" descr="icons/database_0B254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3547872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14400" y="389534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+ SQLite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14400" y="41879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ORM-backed Transaction table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3474720" y="32918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639312" y="345643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1" name="Image 5" descr="icons/gears_0B254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0752" y="3547872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611880" y="389534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611880" y="41879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ops + Z-score math inside tools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6172200" y="32918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336792" y="345643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6" name="Image 6" descr="icons/docker_0B2545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3547872"/>
            <a:ext cx="201168" cy="20116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09360" y="389534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309360" y="41879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Two-service orchestration, backend + UI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8869680" y="32918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9034272" y="345643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1" name="Image 7" descr="icons/cloud_0B2545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5712" y="3547872"/>
            <a:ext cx="201168" cy="20116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006840" y="389534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9006840" y="41879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(render.yaml) one-click cloud deploy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777240" y="521208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FFF4E5"/>
          </a:solidFill>
          <a:ln w="12700">
            <a:solidFill>
              <a:srgbClr val="F0C36D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1005840" y="5212080"/>
            <a:ext cx="10149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Know this cold: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README advertises “GPT-4o + LangChain AgentExecutor,” but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5C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agent.py actually wires up Gemini 3.1 Flash-Lite via LangGraph's create_react_agent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 MemorySaver checkpointer. Docs drift from code — always verify against the source.</a:t>
            </a:r>
            <a:endParaRPr lang="en-US" sz="1200" dirty="0"/>
          </a:p>
        </p:txBody>
      </p:sp>
      <p:sp>
        <p:nvSpPr>
          <p:cNvPr id="46" name="Text 36"/>
          <p:cNvSpPr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7" name="Text 37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Transaction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737360"/>
            <a:ext cx="5486400" cy="3657600"/>
          </a:xfrm>
          <a:prstGeom prst="roundRect">
            <a:avLst>
              <a:gd name="adj" fmla="val 2500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920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  (SQLAlchemy ORM)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24231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06040" y="242316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94760" y="242316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key, indexed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51560" y="28575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session_id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06040" y="28575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94760" y="285750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— scopes rows per upload/user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51560" y="32918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32918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94760" y="329184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from CSV, multi-format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51560" y="37261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37261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94760" y="37261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narration / particulars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51560" y="41605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06040" y="41605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4760" y="41605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= debit, positive = credit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51560" y="45948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06040" y="459486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94760" y="459486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column or keyword-inferred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537960" y="1737360"/>
            <a:ext cx="4892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pic>
        <p:nvPicPr>
          <p:cNvPr id="25" name="Image 0" descr="icons/lock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938528"/>
            <a:ext cx="365760" cy="36576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22376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session_id on every row?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6766560" y="2359152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/upload call gets a fresh UUID session. Every tool query filters WHERE session_id = X, so one SQLite file safely isolates many concurrent users without a login system.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537960" y="3611880"/>
            <a:ext cx="48920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pic>
        <p:nvPicPr>
          <p:cNvPr id="29" name="Image 1" descr="icons/gears_028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3813048"/>
            <a:ext cx="365760" cy="36576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223760" y="37947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Re-upload behaviour</a:t>
            </a:r>
            <a:endParaRPr lang="en-US" sz="1350" dirty="0"/>
          </a:p>
        </p:txBody>
      </p:sp>
      <p:sp>
        <p:nvSpPr>
          <p:cNvPr id="31" name="Text 27"/>
          <p:cNvSpPr/>
          <p:nvPr/>
        </p:nvSpPr>
        <p:spPr>
          <a:xfrm>
            <a:off x="6766560" y="4233672"/>
            <a:ext cx="4434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load_csv() runs a DELETE WHERE session_id = X before inserting new rows — re-uploading a corrected statement replaces, not duplicates, prior data.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load_csv() — the Flexible Parser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hardest part” per the project's own design notes — real Indian bank statements arrive in 6+ shapes.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8424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pic>
        <p:nvPicPr>
          <p:cNvPr id="7" name="Image 0" descr="icons/filter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203911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240487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headers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60120" y="271576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strip, replace spaces → underscore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434840" y="18745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17720" y="198424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pic>
        <p:nvPicPr>
          <p:cNvPr id="12" name="Image 1" descr="icons/csv_028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203911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240487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date column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617720" y="271576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header containing “date”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092440" y="18745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75320" y="198424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pic>
        <p:nvPicPr>
          <p:cNvPr id="17" name="Image 2" descr="icons/rupee_02809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03911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75320" y="240487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amount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275320" y="271576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column OR debit/credit → credit − debit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777240" y="35204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60120" y="363016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pic>
        <p:nvPicPr>
          <p:cNvPr id="22" name="Image 3" descr="icons/chat_02809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3685032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0120" y="405079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description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60120" y="436168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/ narration / particulars / details / remarks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434840" y="35204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617720" y="363016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pic>
        <p:nvPicPr>
          <p:cNvPr id="27" name="Image 4" descr="icons/tools_02809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3685032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17720" y="405079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explicit or inferred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617720" y="436168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 against 8 categories, else “Other”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8092440" y="35204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8275320" y="363016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pic>
        <p:nvPicPr>
          <p:cNvPr id="32" name="Image 5" descr="icons/check_02809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8520" y="3685032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275320" y="405079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&amp; commit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275320" y="436168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per-row try/except; bad rows reported, not fatal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TOOLS ·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 Analyser &amp; Month-over-Month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51663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93852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char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0665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spend_analyser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286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breakdown for any date range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51560" y="274320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start_date, end_date (optional)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amount &lt; 0 → groupby(category).sum() → % of total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on: 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much did I spend on X”, “where's my money going”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051560" y="4023360"/>
            <a:ext cx="4617720" cy="1783080"/>
          </a:xfrm>
          <a:prstGeom prst="roundRect">
            <a:avLst>
              <a:gd name="adj" fmla="val 3077"/>
            </a:avLst>
          </a:prstGeom>
          <a:solidFill>
            <a:srgbClr val="0B2545"/>
          </a:solidFill>
          <a:ln/>
        </p:spPr>
      </p:sp>
      <p:sp>
        <p:nvSpPr>
          <p:cNvPr id="11" name="Text 8"/>
          <p:cNvSpPr/>
          <p:nvPr/>
        </p:nvSpPr>
        <p:spPr>
          <a:xfrm>
            <a:off x="1234440" y="4114800"/>
            <a:ext cx="4251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Shopping    ₹19,900  (42.3%) — 5 txns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        ₹5,970   (12.7%) — 9 txns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Entertain.  ₹2,867   (6.1%)  — 4 txns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      ₹47,120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17920" y="1691640"/>
            <a:ext cx="51663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92240" y="193852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1" descr="icons/compar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066544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3232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mom_compare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132320" y="2286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Category-by-category delta across two months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492240" y="274320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month_a, month_b (YYYY-MM)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totals per category → ▲/▼ direction → % change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on: 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“am I spending more this month”, “what changed”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492240" y="4023360"/>
            <a:ext cx="4617720" cy="1783080"/>
          </a:xfrm>
          <a:prstGeom prst="roundRect">
            <a:avLst>
              <a:gd name="adj" fmla="val 3077"/>
            </a:avLst>
          </a:prstGeom>
          <a:solidFill>
            <a:srgbClr val="0B2545"/>
          </a:solidFill>
          <a:ln/>
        </p:spPr>
      </p:sp>
      <p:sp>
        <p:nvSpPr>
          <p:cNvPr id="19" name="Text 15"/>
          <p:cNvSpPr/>
          <p:nvPr/>
        </p:nvSpPr>
        <p:spPr>
          <a:xfrm>
            <a:off x="6675120" y="4114800"/>
            <a:ext cx="4251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Shopping  ₹4,900 → ₹19,900  ▲ 306%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      ₹3,640 → ₹5,970   ▲ 64%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    ▲ up ₹17,330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TOOLS ·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Detector &amp; Budget Planner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51663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938528"/>
            <a:ext cx="502920" cy="502920"/>
          </a:xfrm>
          <a:prstGeom prst="ellipse">
            <a:avLst/>
          </a:prstGeom>
          <a:solidFill>
            <a:srgbClr val="E8484E"/>
          </a:solidFill>
          <a:ln/>
        </p:spPr>
      </p:sp>
      <p:pic>
        <p:nvPicPr>
          <p:cNvPr id="6" name="Image 0" descr="icons/anomal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0665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anomaly_detector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286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Z-score outlier flagging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51560" y="274320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E8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(x − mean) / std, computed within each category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E8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transactions with z ≥ 2.0, top_n = 5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E8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Guard: 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≥ 5 transactions; std = 0 handled safely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051560" y="4023360"/>
            <a:ext cx="4617720" cy="1783080"/>
          </a:xfrm>
          <a:prstGeom prst="roundRect">
            <a:avLst>
              <a:gd name="adj" fmla="val 3077"/>
            </a:avLst>
          </a:prstGeom>
          <a:solidFill>
            <a:srgbClr val="0B2545"/>
          </a:solidFill>
          <a:ln/>
        </p:spPr>
      </p:sp>
      <p:sp>
        <p:nvSpPr>
          <p:cNvPr id="11" name="Text 8"/>
          <p:cNvSpPr/>
          <p:nvPr/>
        </p:nvSpPr>
        <p:spPr>
          <a:xfrm>
            <a:off x="1234440" y="4114800"/>
            <a:ext cx="4251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4A6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2026-06-17  Amazon purchase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4A6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₹6,700 [Shopping]  Z=2.8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4A6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Why: usual Amazon spend ≈₹1,000/txn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4A6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 ₹6,700 stands out in-category,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4A6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just in absolute size.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17920" y="1691640"/>
            <a:ext cx="51663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92240" y="193852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1" descr="icons/budget_0B254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066544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3232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budget_planner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132320" y="2286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trim toward a saving target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492240" y="274320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(lookback window), saving_goal (%)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spend/category × trim_ratio = budget_pool / total_avg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income unknown, saving % applied to spend instead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492240" y="4023360"/>
            <a:ext cx="4617720" cy="1783080"/>
          </a:xfrm>
          <a:prstGeom prst="roundRect">
            <a:avLst>
              <a:gd name="adj" fmla="val 3077"/>
            </a:avLst>
          </a:prstGeom>
          <a:solidFill>
            <a:srgbClr val="0B2545"/>
          </a:solidFill>
          <a:ln/>
        </p:spPr>
      </p:sp>
      <p:sp>
        <p:nvSpPr>
          <p:cNvPr id="19" name="Text 15"/>
          <p:cNvSpPr/>
          <p:nvPr/>
        </p:nvSpPr>
        <p:spPr>
          <a:xfrm>
            <a:off x="6675120" y="4114800"/>
            <a:ext cx="4251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Saving target (25%): ₹12,500 / mo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Shopping  now ₹4,975 → budget ₹3,731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      now ₹1,990 → budget ₹1,493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Design: How Routing Actually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6035040" cy="4343400"/>
          </a:xfrm>
          <a:prstGeom prst="roundRect">
            <a:avLst>
              <a:gd name="adj" fmla="val 2105"/>
            </a:avLst>
          </a:prstGeom>
          <a:solidFill>
            <a:srgbClr val="13315C"/>
          </a:solidFill>
          <a:ln/>
        </p:spPr>
      </p:sp>
      <p:pic>
        <p:nvPicPr>
          <p:cNvPr id="5" name="Image 0" descr="icons/robot_02C39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0195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build_agent(session_id, db)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2331720"/>
            <a:ext cx="5577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ChatGoogleGenerativeAI(model="gemini-3.1-flash-lite", temperature=0.2, thinking_budget=0)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Instantiate all 4 tools bound to this session_id + db handle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MemorySaver() checkpointer — per-thread conversation state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create_react_agent(model, tools, checkpointer, prompt=SYSTEM_PROMPT)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fresh on every /upload; re-created on /chat if server restarted (in-memory _agents dict, not persisted)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086600" y="1691640"/>
            <a:ext cx="4343400" cy="4343400"/>
          </a:xfrm>
          <a:prstGeom prst="roundRect">
            <a:avLst>
              <a:gd name="adj" fmla="val 2105"/>
            </a:avLst>
          </a:prstGeom>
          <a:solidFill>
            <a:srgbClr val="13315C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9" name="Image 1" descr="icons/code_02C39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745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26680" y="19019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SYSTEM_PROMPT rules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7315200" y="242316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8"/>
          <p:cNvSpPr/>
          <p:nvPr/>
        </p:nvSpPr>
        <p:spPr>
          <a:xfrm>
            <a:off x="7543800" y="23042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a tool before answering — never invent numbers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315200" y="29900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0"/>
          <p:cNvSpPr/>
          <p:nvPr/>
        </p:nvSpPr>
        <p:spPr>
          <a:xfrm>
            <a:off x="7543800" y="287121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concise but warm; lead with the insight, then detail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315200" y="355701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2"/>
          <p:cNvSpPr/>
          <p:nvPr/>
        </p:nvSpPr>
        <p:spPr>
          <a:xfrm>
            <a:off x="7543800" y="343814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currency as ₹ with commas, consistently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315200" y="41239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4"/>
          <p:cNvSpPr/>
          <p:nvPr/>
        </p:nvSpPr>
        <p:spPr>
          <a:xfrm>
            <a:off x="7543800" y="40050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problem is detected, suggest one concrete action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7315200" y="469087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6"/>
          <p:cNvSpPr/>
          <p:nvPr/>
        </p:nvSpPr>
        <p:spPr>
          <a:xfrm>
            <a:off x="7543800" y="4572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new uploads, offer a summary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7315200" y="52578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18"/>
          <p:cNvSpPr/>
          <p:nvPr/>
        </p:nvSpPr>
        <p:spPr>
          <a:xfrm>
            <a:off x="7543800" y="51389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Off-topic questions: answer briefly, redirect to finance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Choices Worth Defending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516636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874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+ Tools  vs.  RAG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22128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embed transactions and retrieve by similarity?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2651760"/>
            <a:ext cx="4663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 is structured and deterministic.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much on food in May?” has one precise answer — a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beats embedding similarity over transaction text every time.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excels at 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document retrieval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transactions are structured rows, not prose. Matching data type to strategy mattered more than following the trend.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051560" y="4937760"/>
            <a:ext cx="4617720" cy="960120"/>
          </a:xfrm>
          <a:prstGeom prst="roundRect">
            <a:avLst>
              <a:gd name="adj" fmla="val 5714"/>
            </a:avLst>
          </a:prstGeom>
          <a:solidFill>
            <a:srgbClr val="E9F7F3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4937760"/>
            <a:ext cx="4251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A6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zero hallucinated figures — every number traces to a deterministic Python function, auditable and testable.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16636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 vs.  Percentile  vs.  Isolation Forest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240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method for flagging unusual transactions</a:t>
            </a:r>
            <a:endParaRPr lang="en-US" sz="1100" dirty="0"/>
          </a:p>
        </p:txBody>
      </p:sp>
      <p:pic>
        <p:nvPicPr>
          <p:cNvPr id="13" name="Image 0" descr="icons/bug_E8484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2697480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26517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(90th)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903720" y="295351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but flags every high spend — even routine ones</a:t>
            </a:r>
            <a:endParaRPr lang="en-US" sz="1000" dirty="0"/>
          </a:p>
        </p:txBody>
      </p:sp>
      <p:pic>
        <p:nvPicPr>
          <p:cNvPr id="16" name="Image 1" descr="icons/bug_E8484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56616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03720" y="3520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903720" y="382219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ML-based; overkill for this data volume, hard to explain</a:t>
            </a:r>
            <a:endParaRPr lang="en-US" sz="1000" dirty="0"/>
          </a:p>
        </p:txBody>
      </p:sp>
      <p:pic>
        <p:nvPicPr>
          <p:cNvPr id="19" name="Image 2" descr="icons/check_02C39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4348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03720" y="4389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per category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903720" y="469087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Interpretable, fast, statistically grounded — chosen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492240" y="5257800"/>
            <a:ext cx="4617720" cy="658368"/>
          </a:xfrm>
          <a:prstGeom prst="roundRect">
            <a:avLst>
              <a:gd name="adj" fmla="val 8333"/>
            </a:avLst>
          </a:prstGeom>
          <a:solidFill>
            <a:srgbClr val="FFF4E5"/>
          </a:solidFill>
          <a:ln/>
        </p:spPr>
      </p:sp>
      <p:sp>
        <p:nvSpPr>
          <p:cNvPr id="23" name="Text 18"/>
          <p:cNvSpPr/>
          <p:nvPr/>
        </p:nvSpPr>
        <p:spPr>
          <a:xfrm>
            <a:off x="6675120" y="5257800"/>
            <a:ext cx="4251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₹6,700 Amazon charge is anomalous because your Amazon average is ₹1,000 — not because ₹6,700 is big in absolute terms.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Endpoints &amp; Streaming Chat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65960" y="17830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240" y="1783080"/>
            <a:ext cx="7178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{status: ok} — liveness probe for Docker/Render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42316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2316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65960" y="2423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/upload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6240" y="2423160"/>
            <a:ext cx="7178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 CSV → load_csv() → SQLite; builds a fresh agent for the session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306324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6324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65960" y="3063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3063240"/>
            <a:ext cx="7178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{session_id, message} → agent.astream(...) → StreamingResponse (text/plain)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886200"/>
            <a:ext cx="10607040" cy="2148840"/>
          </a:xfrm>
          <a:prstGeom prst="roundRect">
            <a:avLst>
              <a:gd name="adj" fmla="val 4255"/>
            </a:avLst>
          </a:prstGeom>
          <a:solidFill>
            <a:srgbClr val="0B25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041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streaming, and how it's filtered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51560" y="44348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agent.astream(..., stream_mode="messages") emits every LangGraph node's output. The generator only yields chunks where metadata['langgraph_node'] == 'agent' — this filters out the tool-call and tool-result events so the user's terminal only sees the model's natural-language tokens, not raw tool JSON.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51560" y="5440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is wide open (allow_origins=["*"]) — fine for a demo, would need locking down for production multi-tenant use.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Strategy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pic>
        <p:nvPicPr>
          <p:cNvPr id="5" name="Image 0" descr="icons/test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202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9659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tests/test_tools.py</a:t>
            </a:r>
            <a:endParaRPr lang="en-US" sz="1400" dirty="0"/>
          </a:p>
        </p:txBody>
      </p:sp>
      <p:pic>
        <p:nvPicPr>
          <p:cNvPr id="7" name="Image 1" descr="icons/check_02C39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514600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246888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TestSpendAnalyserTool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417320" y="276148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output, income exclusion, date filters, empty DB</a:t>
            </a:r>
            <a:endParaRPr lang="en-US" sz="1000" dirty="0"/>
          </a:p>
        </p:txBody>
      </p:sp>
      <p:pic>
        <p:nvPicPr>
          <p:cNvPr id="10" name="Image 2" descr="icons/check_02C39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172968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312724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TestMoMCompareTool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1417320" y="341985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arrows, category deltas, empty-month handling</a:t>
            </a:r>
            <a:endParaRPr lang="en-US" sz="1000" dirty="0"/>
          </a:p>
        </p:txBody>
      </p:sp>
      <p:pic>
        <p:nvPicPr>
          <p:cNvPr id="13" name="Image 3" descr="icons/check_02C39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831336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17320" y="378561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TestAnomalyDetectorTool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1417320" y="407822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behaviour, top_n limit, no-anomaly path</a:t>
            </a:r>
            <a:endParaRPr lang="en-US" sz="1000" dirty="0"/>
          </a:p>
        </p:txBody>
      </p:sp>
      <p:pic>
        <p:nvPicPr>
          <p:cNvPr id="16" name="Image 4" descr="icons/check_02C39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489704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17320" y="444398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TestBudgetPlannerTool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1417320" y="47365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%, category coverage</a:t>
            </a:r>
            <a:endParaRPr lang="en-US" sz="1000" dirty="0"/>
          </a:p>
        </p:txBody>
      </p:sp>
      <p:pic>
        <p:nvPicPr>
          <p:cNvPr id="19" name="Image 5" descr="icons/check_02C39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5148072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417320" y="510235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TestCSVLoader</a:t>
            </a:r>
            <a:endParaRPr lang="en-US" sz="1150" dirty="0"/>
          </a:p>
        </p:txBody>
      </p:sp>
      <p:sp>
        <p:nvSpPr>
          <p:cNvPr id="21" name="Text 13"/>
          <p:cNvSpPr/>
          <p:nvPr/>
        </p:nvSpPr>
        <p:spPr>
          <a:xfrm>
            <a:off x="1417320" y="5394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CSV, debit/credit split, category inference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6537960" y="1691640"/>
            <a:ext cx="4892040" cy="1965960"/>
          </a:xfrm>
          <a:prstGeom prst="roundRect">
            <a:avLst>
              <a:gd name="adj" fmla="val 4651"/>
            </a:avLst>
          </a:prstGeom>
          <a:solidFill>
            <a:srgbClr val="0B2545"/>
          </a:solidFill>
          <a:ln/>
        </p:spPr>
      </p:sp>
      <p:pic>
        <p:nvPicPr>
          <p:cNvPr id="23" name="Image 6" descr="icons/lock_02C39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0" y="1920240"/>
            <a:ext cx="365760" cy="36576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269480" y="19476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Mocked, not live</a:t>
            </a:r>
            <a:endParaRPr lang="en-US" sz="1400" dirty="0"/>
          </a:p>
        </p:txBody>
      </p:sp>
      <p:sp>
        <p:nvSpPr>
          <p:cNvPr id="25" name="Text 16"/>
          <p:cNvSpPr/>
          <p:nvPr/>
        </p:nvSpPr>
        <p:spPr>
          <a:xfrm>
            <a:off x="6812280" y="237744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tests use a mock SQLAlchemy session — no real database or API key required. Fast, deterministic, CI-friendly.</a:t>
            </a:r>
            <a:endParaRPr lang="en-US" sz="1150" dirty="0"/>
          </a:p>
        </p:txBody>
      </p:sp>
      <p:sp>
        <p:nvSpPr>
          <p:cNvPr id="26" name="Shape 17"/>
          <p:cNvSpPr/>
          <p:nvPr/>
        </p:nvSpPr>
        <p:spPr>
          <a:xfrm>
            <a:off x="6537960" y="3840480"/>
            <a:ext cx="4892040" cy="2148840"/>
          </a:xfrm>
          <a:prstGeom prst="roundRect">
            <a:avLst>
              <a:gd name="adj" fmla="val 4255"/>
            </a:avLst>
          </a:prstGeom>
          <a:solidFill>
            <a:srgbClr val="FFF4E5"/>
          </a:solidFill>
          <a:ln w="12700">
            <a:solidFill>
              <a:srgbClr val="F0C36D"/>
            </a:solidFill>
            <a:prstDash val="solid"/>
          </a:ln>
        </p:spPr>
      </p:sp>
      <p:pic>
        <p:nvPicPr>
          <p:cNvPr id="27" name="Image 7" descr="icons/question_8A5A0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2280" y="4041648"/>
            <a:ext cx="365760" cy="36576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269480" y="40690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to flag proactively</a:t>
            </a:r>
            <a:endParaRPr lang="en-US" sz="1400" dirty="0"/>
          </a:p>
        </p:txBody>
      </p:sp>
      <p:sp>
        <p:nvSpPr>
          <p:cNvPr id="29" name="Text 19"/>
          <p:cNvSpPr/>
          <p:nvPr/>
        </p:nvSpPr>
        <p:spPr>
          <a:xfrm>
            <a:off x="6812280" y="4480560"/>
            <a:ext cx="4434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5C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tests cover the agent orchestration layer (agent.py) or the FastAPI routes directly — tool logic is unit-tested, but end-to-end routing/streaming is not. Good honest answer if asked.</a:t>
            </a:r>
            <a:endParaRPr lang="en-US" sz="1100" dirty="0"/>
          </a:p>
        </p:txBody>
      </p:sp>
      <p:sp>
        <p:nvSpPr>
          <p:cNvPr id="30" name="Text 20"/>
          <p:cNvSpPr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1" name="Text 21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Laptop to Cloud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10607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1488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cod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99339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(Linux/Windows)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37760" y="1993392"/>
            <a:ext cx="6263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venv + pip install → uvicorn (8000) + streamlit run (8501) in two terminals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3200400"/>
            <a:ext cx="10607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51560" y="35204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icons/docker_0B254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6" y="364845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74520" y="336499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37760" y="3364992"/>
            <a:ext cx="6263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--build — identical on Linux &amp; Windows, two containers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77240" y="4572000"/>
            <a:ext cx="10607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51560" y="489204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6" name="Image 2" descr="icons/clou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502005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73659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937760" y="4736592"/>
            <a:ext cx="6263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render.yaml Blueprint — backend + Streamlit UI as two managed services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surface: OPENAI_API_KEY (legacy env name, unused by current Gemini path) · DATABASE_URL · REDIS_URL (optional) · API_BASE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51663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pic>
        <p:nvPicPr>
          <p:cNvPr id="5" name="Image 0" descr="icons/bug_E8484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202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385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097280" y="2523744"/>
            <a:ext cx="91440" cy="91440"/>
          </a:xfrm>
          <a:prstGeom prst="ellipse">
            <a:avLst/>
          </a:prstGeom>
          <a:solidFill>
            <a:srgbClr val="E8484E"/>
          </a:solidFill>
          <a:ln/>
        </p:spPr>
      </p:sp>
      <p:sp>
        <p:nvSpPr>
          <p:cNvPr id="8" name="Text 5"/>
          <p:cNvSpPr/>
          <p:nvPr/>
        </p:nvSpPr>
        <p:spPr>
          <a:xfrm>
            <a:off x="1325880" y="239572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category inference misses edge cases (e.g. “Blinkit” → not in the Food keyword list, falls to “Other”)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1097280" y="3182112"/>
            <a:ext cx="91440" cy="91440"/>
          </a:xfrm>
          <a:prstGeom prst="ellipse">
            <a:avLst/>
          </a:prstGeom>
          <a:solidFill>
            <a:srgbClr val="E8484E"/>
          </a:solidFill>
          <a:ln/>
        </p:spPr>
      </p:sp>
      <p:sp>
        <p:nvSpPr>
          <p:cNvPr id="10" name="Text 7"/>
          <p:cNvSpPr/>
          <p:nvPr/>
        </p:nvSpPr>
        <p:spPr>
          <a:xfrm>
            <a:off x="1325880" y="305409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don't share context — each call re-reads the full session DataFrame independently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1097280" y="3840480"/>
            <a:ext cx="91440" cy="91440"/>
          </a:xfrm>
          <a:prstGeom prst="ellipse">
            <a:avLst/>
          </a:prstGeom>
          <a:solidFill>
            <a:srgbClr val="E8484E"/>
          </a:solidFill>
          <a:ln/>
        </p:spPr>
      </p:sp>
      <p:sp>
        <p:nvSpPr>
          <p:cNvPr id="12" name="Text 9"/>
          <p:cNvSpPr/>
          <p:nvPr/>
        </p:nvSpPr>
        <p:spPr>
          <a:xfrm>
            <a:off x="1325880" y="3712464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_agents dict — lost on server restart (falls back to rebuilding, but chat memory resets)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1097280" y="4498848"/>
            <a:ext cx="91440" cy="91440"/>
          </a:xfrm>
          <a:prstGeom prst="ellipse">
            <a:avLst/>
          </a:prstGeom>
          <a:solidFill>
            <a:srgbClr val="E8484E"/>
          </a:solidFill>
          <a:ln/>
        </p:spPr>
      </p:sp>
      <p:sp>
        <p:nvSpPr>
          <p:cNvPr id="14" name="Text 11"/>
          <p:cNvSpPr/>
          <p:nvPr/>
        </p:nvSpPr>
        <p:spPr>
          <a:xfrm>
            <a:off x="1325880" y="437083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 on the API; CORS wide open by default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1097280" y="5157216"/>
            <a:ext cx="91440" cy="91440"/>
          </a:xfrm>
          <a:prstGeom prst="ellipse">
            <a:avLst/>
          </a:prstGeom>
          <a:solidFill>
            <a:srgbClr val="E8484E"/>
          </a:solidFill>
          <a:ln/>
        </p:spPr>
      </p:sp>
      <p:sp>
        <p:nvSpPr>
          <p:cNvPr id="16" name="Text 13"/>
          <p:cNvSpPr/>
          <p:nvPr/>
        </p:nvSpPr>
        <p:spPr>
          <a:xfrm>
            <a:off x="1325880" y="50292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only — no PDF bank statement support yet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6217920" y="1691640"/>
            <a:ext cx="5166360" cy="4297680"/>
          </a:xfrm>
          <a:prstGeom prst="roundRect">
            <a:avLst>
              <a:gd name="adj" fmla="val 2128"/>
            </a:avLst>
          </a:prstGeom>
          <a:solidFill>
            <a:srgbClr val="0B2545"/>
          </a:solidFill>
          <a:ln/>
        </p:spPr>
      </p:sp>
      <p:pic>
        <p:nvPicPr>
          <p:cNvPr id="18" name="Image 1" descr="icons/flag_02C39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2024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49440" y="19385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537960" y="2523744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7"/>
          <p:cNvSpPr/>
          <p:nvPr/>
        </p:nvSpPr>
        <p:spPr>
          <a:xfrm>
            <a:off x="6766560" y="23957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support for multi-tenant deployments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537960" y="309067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19"/>
          <p:cNvSpPr/>
          <p:nvPr/>
        </p:nvSpPr>
        <p:spPr>
          <a:xfrm>
            <a:off x="6766560" y="296265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Redis-backed session persistence across restarts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537960" y="365760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1"/>
          <p:cNvSpPr/>
          <p:nvPr/>
        </p:nvSpPr>
        <p:spPr>
          <a:xfrm>
            <a:off x="6766560" y="352958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Embedding-based category inference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537960" y="4224528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3"/>
          <p:cNvSpPr/>
          <p:nvPr/>
        </p:nvSpPr>
        <p:spPr>
          <a:xfrm>
            <a:off x="6766560" y="409651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tool memory — pass prior results as context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537960" y="4791456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5"/>
          <p:cNvSpPr/>
          <p:nvPr/>
        </p:nvSpPr>
        <p:spPr>
          <a:xfrm>
            <a:off x="6766560" y="46634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statement support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537960" y="5358384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7"/>
          <p:cNvSpPr/>
          <p:nvPr/>
        </p:nvSpPr>
        <p:spPr>
          <a:xfrm>
            <a:off x="6766560" y="523036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authentication (API keys / JWT)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PREP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Anticipated Questions — Part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10607040" cy="1097280"/>
          </a:xfrm>
          <a:prstGeom prst="roundRect">
            <a:avLst>
              <a:gd name="adj" fmla="val 6667"/>
            </a:avLst>
          </a:prstGeom>
          <a:solidFill>
            <a:srgbClr val="13315C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91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6733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agent with tools instead of asking the LLM to write pandas code on the fly?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554480" y="203911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 and safety: pre-written tools always run the same validated logic. Free-form generated code risks incorrect or unsafe operations and is far harder to unit test.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77240" y="2807208"/>
            <a:ext cx="10607040" cy="1097280"/>
          </a:xfrm>
          <a:prstGeom prst="roundRect">
            <a:avLst>
              <a:gd name="adj" fmla="val 6667"/>
            </a:avLst>
          </a:prstGeom>
          <a:solidFill>
            <a:srgbClr val="13315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89864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880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Z-score and not a fixed rupee threshold for anomalies?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scale varies wildly by category and by user. Z-score normalises “unusual” relative to that category's own mean/std, so it adapts per user automatically.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77240" y="4014216"/>
            <a:ext cx="10607040" cy="1097280"/>
          </a:xfrm>
          <a:prstGeom prst="roundRect">
            <a:avLst>
              <a:gd name="adj" fmla="val 6667"/>
            </a:avLst>
          </a:prstGeom>
          <a:solidFill>
            <a:srgbClr val="13315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0565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40873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a category has only 1–2 transactions?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554480" y="445312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would be near-zero or undefined; the code guards with `if x.std() &gt; 0 else 0`, and the tool as a whole requires ≥ 5 transactions before running at all.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777240" y="5221224"/>
            <a:ext cx="10607040" cy="1097280"/>
          </a:xfrm>
          <a:prstGeom prst="roundRect">
            <a:avLst>
              <a:gd name="adj" fmla="val 6667"/>
            </a:avLst>
          </a:prstGeom>
          <a:solidFill>
            <a:srgbClr val="13315C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531266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529437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one user's data kept separate from another's?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554480" y="5660136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row carries a session_id (a UUID minted at upload time); every query filters on it. No login system needed for the demo scope.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PREP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Anticipated Questions — Part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10607040" cy="1097280"/>
          </a:xfrm>
          <a:prstGeom prst="roundRect">
            <a:avLst>
              <a:gd name="adj" fmla="val 6667"/>
            </a:avLst>
          </a:prstGeom>
          <a:solidFill>
            <a:srgbClr val="13315C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91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6733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README says GPT-4o + AgentExecutor — what does the code really use?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554480" y="203911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agent.py imports ChatGoogleGenerativeAI (Gemini 3.1 Flash-Lite) and LangGraph's create_react_agent with a MemorySaver checkpointer — documentation had drifted from the implementation.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77240" y="2807208"/>
            <a:ext cx="10607040" cy="1097280"/>
          </a:xfrm>
          <a:prstGeom prst="roundRect">
            <a:avLst>
              <a:gd name="adj" fmla="val 6667"/>
            </a:avLst>
          </a:prstGeom>
          <a:solidFill>
            <a:srgbClr val="13315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89864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880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temperature=0.2 and not 0?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Near-deterministic but not rigid — keeps phrasing natural across runs while still discouraging creative/inconsistent number formatting, per the system prompt's explicit currency and tone rules.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77240" y="4014216"/>
            <a:ext cx="10607040" cy="1097280"/>
          </a:xfrm>
          <a:prstGeom prst="roundRect">
            <a:avLst>
              <a:gd name="adj" fmla="val 6667"/>
            </a:avLst>
          </a:prstGeom>
          <a:solidFill>
            <a:srgbClr val="13315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0565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40873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conversation memory work across turns?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554480" y="445312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MemorySaver checkpoints LangGraph state per thread_id (= session_id). Each /chat call passes that thread_id so prior turns are recalled — but tool calls themselves don't reuse earlier tool outputs.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777240" y="5221224"/>
            <a:ext cx="10607040" cy="1097280"/>
          </a:xfrm>
          <a:prstGeom prst="roundRect">
            <a:avLst>
              <a:gd name="adj" fmla="val 6667"/>
            </a:avLst>
          </a:prstGeom>
          <a:solidFill>
            <a:srgbClr val="13315C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531266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529437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single biggest reliability guarantee of this design?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554480" y="5660136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computes a number itself. All arithmetic — sums, percentages, Z-scores — runs in plain Python/pandas inside the tools; the model only orchestrates and phrases.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389120"/>
            <a:ext cx="4754880" cy="475488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737360"/>
            <a:ext cx="4206240" cy="4206240"/>
          </a:xfrm>
          <a:prstGeom prst="ellipse">
            <a:avLst/>
          </a:prstGeom>
          <a:solidFill>
            <a:srgbClr val="028090">
              <a:alpha val="35000"/>
            </a:srgbClr>
          </a:solidFill>
          <a:ln/>
        </p:spPr>
      </p:sp>
      <p:pic>
        <p:nvPicPr>
          <p:cNvPr id="4" name="Image 0" descr="icons/money_02C39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55448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514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Live Demo — FinSight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937760" y="4160520"/>
            <a:ext cx="22860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389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docs/thinking_piece.md  •  README.md  •  tests/test_tools.py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881360" y="65105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2026-07-25T03:19:15Z</dcterms:created>
  <dcterms:modified xsi:type="dcterms:W3CDTF">2026-07-25T03:19:15Z</dcterms:modified>
</cp:coreProperties>
</file>